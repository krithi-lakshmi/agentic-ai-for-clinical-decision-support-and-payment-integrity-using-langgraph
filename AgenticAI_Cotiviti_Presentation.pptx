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40"/>
    <p:restoredTop sz="94610"/>
  </p:normalViewPr>
  <p:slideViewPr>
    <p:cSldViewPr snapToGrid="0" snapToObjects="1">
      <p:cViewPr varScale="1">
        <p:scale>
          <a:sx n="244" d="100"/>
          <a:sy n="244" d="100"/>
        </p:scale>
        <p:origin x="2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E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E4B"/>
                </a:solidFill>
                <a:latin typeface="Arial"/>
              </a:rPr>
              <a:t>AI in Healthcare Market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Healthcare Market ($B)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E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2026E</c:v>
                </c:pt>
                <c:pt idx="4">
                  <c:v>2028E</c:v>
                </c:pt>
                <c:pt idx="5">
                  <c:v>2030E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22</c:v>
                </c:pt>
                <c:pt idx="2">
                  <c:v>35</c:v>
                </c:pt>
                <c:pt idx="3">
                  <c:v>58</c:v>
                </c:pt>
                <c:pt idx="4">
                  <c:v>105</c:v>
                </c:pt>
                <c:pt idx="5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6-C34C-B2EC-5EEB1A57D5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0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hart" Target="../charts/chart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Clinical Decision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Payment Integrity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Technology Report &amp; Proof-of-Concept for Cotiviti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4160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LangGraph  ·  Risk Scoring  ·  Explainable AI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03B9A-AD76-5FE9-C810-6AC94E02C307}"/>
              </a:ext>
            </a:extLst>
          </p:cNvPr>
          <p:cNvSpPr txBox="1"/>
          <p:nvPr/>
        </p:nvSpPr>
        <p:spPr>
          <a:xfrm>
            <a:off x="6155209" y="4202668"/>
            <a:ext cx="268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Krithika Murugesan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0C7D8-62C8-1F84-CB5B-DE7868407CFB}"/>
              </a:ext>
            </a:extLst>
          </p:cNvPr>
          <p:cNvSpPr txBox="1"/>
          <p:nvPr/>
        </p:nvSpPr>
        <p:spPr>
          <a:xfrm>
            <a:off x="6724757" y="4558940"/>
            <a:ext cx="203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Northeastern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Traditional Claim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" y="1728216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" y="2130552"/>
            <a:ext cx="17007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claims processed manually with rule-based engines that can't scale with healthcare complexity.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50592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21615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1728216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Errors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560320" y="2130552"/>
            <a:ext cx="17007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Overpayments, underpayments, and fraud cost the US healthcare system over $100B annually.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35424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121615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45152" y="1728216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45152" y="2130552"/>
            <a:ext cx="17007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 fail regulatory audits and can't justify claim denials in payer appeals.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620256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121615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9984" y="1728216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Integration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729984" y="2130552"/>
            <a:ext cx="17007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IT stacks across payers make it hard to deploy modern analytics at scale.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65760" y="38221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48640" y="38862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$100B+ </a:t>
            </a:r>
            <a:r>
              <a:rPr lang="en-US" sz="1400" dirty="0">
                <a:solidFill>
                  <a:srgbClr val="94A3B8"/>
                </a:solidFill>
              </a:rPr>
              <a:t>lost to fraud, waste &amp; abuse annually  ·  </a:t>
            </a:r>
            <a:r>
              <a:rPr lang="en-US" sz="2000" b="1" dirty="0">
                <a:solidFill>
                  <a:srgbClr val="F59E0B"/>
                </a:solidFill>
              </a:rPr>
              <a:t>5B+ </a:t>
            </a:r>
            <a:r>
              <a:rPr lang="en-US" sz="1400" dirty="0">
                <a:solidFill>
                  <a:srgbClr val="94A3B8"/>
                </a:solidFill>
              </a:rPr>
              <a:t>claims processed per year in the US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Agentic AI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LangGraph-orchestrated multi-node pipeline combining policy retrieval, risk scoring, and explainable decision-making — purpose-built for healthcare payment integrity.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83464" y="1645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3464" y="223113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73936" y="2057400"/>
            <a:ext cx="16459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37944" y="194767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56232" y="15544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11096" y="1645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11096" y="223113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1568" y="2057400"/>
            <a:ext cx="16459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194767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83864" y="15544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38728" y="1645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Policy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38728" y="223113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OpenAI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057400"/>
            <a:ext cx="16459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93208" y="194767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11496" y="15544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1645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66360" y="223113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56832" y="2057400"/>
            <a:ext cx="16459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194767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9128" y="1554480"/>
            <a:ext cx="1536192" cy="100584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93992" y="1645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93992" y="223113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056" y="301752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Real Retrieval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" y="3328416"/>
            <a:ext cx="24414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over curated policy corpus. Similarity search returns top-k matching policies grounding every decision.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926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301752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8416" y="3328416"/>
            <a:ext cx="24414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keyword + pattern scoring. Extensible to ML-based probability models with provider history and clinical context.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2926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08776" y="301752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08776" y="3328416"/>
            <a:ext cx="24414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cites the retrieved policy, risk score, and violation pattern — producing audit-ready documentation automatically.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3708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Human-in-the-Loop: High-risk claims always route to clinical reviewer with pre-populated decision summary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Trends &amp; Market Opportunity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86868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937760" y="914400"/>
            <a:ext cx="420624" cy="420624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969264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49824" y="932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5B+ claims processed in the US annually; volume growing 8% YoY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4937760" y="1700784"/>
            <a:ext cx="420624" cy="420624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175564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49824" y="17190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entering enterprise healthcare workflows (RAG, agentic systems)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4937760" y="2487168"/>
            <a:ext cx="420624" cy="420624"/>
          </a:xfrm>
          <a:prstGeom prst="ellipse">
            <a:avLst/>
          </a:prstGeom>
          <a:solidFill>
            <a:srgbClr val="1B2E4B">
              <a:alpha val="15000"/>
            </a:srgbClr>
          </a:solidFill>
          <a:ln w="12700">
            <a:solidFill>
              <a:srgbClr val="1B2E4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254203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9824" y="25054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&amp; state regulators requiring explainable, auditable AI for claim decisions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937760" y="3273552"/>
            <a:ext cx="420624" cy="420624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332841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49824" y="3291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static rule engines to adaptive, probabilistic AI scoring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4937760" y="4059936"/>
            <a:ext cx="420624" cy="420624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411480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49824" y="40782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prioritizing human-in-the-loop AI to balance automation with compliance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CMS NHE Report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96112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Opportunities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claim validation &amp; policy compliance checks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workload — route only complex claims to reviewers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fraud detection via probabilistic risk scoring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decision speed and accuracy pre-payment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audit-ready explanations for every decision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896112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0058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Risks &amp; Mitigations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— enforce de-identification and access controls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mandate — every decision cites policy +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automation — human-in-the-loop for high-risk claims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integration — modular API design for existing platforms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— strict PHI handling protocols at every pipeline stage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Architecture: Agentic Claims Intelligence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108960" y="82296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127248" y="859536"/>
            <a:ext cx="2889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Streamlit UI — Claim Input 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1444752"/>
            <a:ext cx="0" cy="27432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2272" y="168249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883664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98648" y="1920240"/>
            <a:ext cx="33467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LangGraph Orchestrator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2478024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2478024"/>
            <a:ext cx="91440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85292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RAG Policy Retrieval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OpenAI Embeddings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28346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87568" y="285292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Engine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Pattern Matching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3657600"/>
            <a:ext cx="128016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0" y="3657600"/>
            <a:ext cx="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51760" y="3950208"/>
            <a:ext cx="3840480" cy="694944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70048" y="3977640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Decision + Explainability (Audit-Ready Output)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841248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896112"/>
            <a:ext cx="21031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Nodes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Policy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Engine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+ Explain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841248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56832" y="896112"/>
            <a:ext cx="213969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graph.py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rag.py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state.py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policies.txt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Deep Dive: Key Code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804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(state.py)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188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ClaimState(TypedDict):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claim: str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policy_context: str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risk_score: float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decision: str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explanation: str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flows through all nodes — traceable and testable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804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Node (rag.py)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188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 = FAISS.from_texts(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POLICIES, OpenAIEmbeddings())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retrieve_policy(query):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 = vectorstore.similarity_search(query, k=2)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 | ".join([d.page_content for d in docs])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36576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semantic retrieval — no keyword matching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804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LangGraph Workflow (graph.py)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15568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1188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= StateGraph(ClaimState)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workflow.add_node("rag", rag_node)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workflow.add_node("risk", risk_node)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workflow.add_node("decision", decision_node)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workflow.set_entry_point("rag")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workflow.add_edge("rag", "risk")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workflow.add_edge("risk", "decision")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workflow.compile(checkpointer=MemorySaver())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3-node directed graph with memory checkpointing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169664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Risk &gt; 0.6 → </a:t>
            </a:r>
            <a:r>
              <a:rPr lang="en-US" sz="1200" dirty="0">
                <a:solidFill>
                  <a:srgbClr val="94A3B8"/>
                </a:solidFill>
              </a:rPr>
              <a:t>"FLAG FOR REVIEW" with policy citation &amp; violation reason   </a:t>
            </a:r>
            <a:r>
              <a:rPr lang="en-US" sz="1300" b="1" dirty="0">
                <a:solidFill>
                  <a:srgbClr val="10B981"/>
                </a:solidFill>
              </a:rPr>
              <a:t>Risk ≤ 0.6 → </a:t>
            </a:r>
            <a:r>
              <a:rPr lang="en-US" sz="1200" dirty="0">
                <a:solidFill>
                  <a:srgbClr val="94A3B8"/>
                </a:solidFill>
              </a:rPr>
              <a:t>"APPROVE CLAIM" with supporting policy evidence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Value for Cotiviti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investment positions Cotiviti as the leader in AI-powered payment integrity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490472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2336" y="192024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adjudication, slashing per-claim labor costs and freeing auditors for high-value work.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13258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21608" y="1490472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Recovery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82696" y="192024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scoring + RAG grounding reduces false positives and false negatives, improving net recovery rates.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13258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087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01968" y="1490472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63056" y="1920240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explainability-first design differentiates Cotiviti from opaque black-box analytics vendors.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953512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1363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311810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02336" y="354787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agentic architecture scales across new payer clients, benefit lines, and markets without re-implementation.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54680" y="2953512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313639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21608" y="311810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82696" y="354787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documentation reduces cost of CMS audits, state inquiries, and provider appeals.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35040" y="2953512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53655"/>
          </a:solidFill>
          <a:ln w="12700">
            <a:solidFill>
              <a:srgbClr val="30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13639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01968" y="311810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63056" y="3547872"/>
            <a:ext cx="2441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RAG provides extensible base for future AI capabilities: prior auth, utilization mgmt,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not a future aspiration — it is a deployable advantage available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RAG policy grounding, LangGraph orchestration, probabilistic risk scoring, and explainability-first design, Cotiviti can substantially improve payment integrity outcomes while maintaining the compliance and audit transparency required in a regulated industry.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window is now — early deployment establishes Cotiviti as the definitive leader in AI-powered payment integrity.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87452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8928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POC with 500 real anonymized claims from a payer client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532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25511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policy corpus with InterQual / MCG guidelines via RAG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1912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32095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ML-based risk model (XGBoost / LightGBM) alongside rules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84962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867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 API layer for integration with existing claims platforms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51713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Strategic Technology Report  ·  June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1017</Words>
  <Application>Microsoft Macintosh PowerPoint</Application>
  <PresentationFormat>On-screen Show (16:9)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Clinical Decision Support</dc:title>
  <dc:subject>PptxGenJS Presentation</dc:subject>
  <dc:creator>Cotiviti Technology Team</dc:creator>
  <cp:lastModifiedBy>Krithika Murugesan</cp:lastModifiedBy>
  <cp:revision>2</cp:revision>
  <dcterms:created xsi:type="dcterms:W3CDTF">2026-06-26T20:35:58Z</dcterms:created>
  <dcterms:modified xsi:type="dcterms:W3CDTF">2026-06-26T21:03:47Z</dcterms:modified>
</cp:coreProperties>
</file>